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3" r:id="rId1"/>
  </p:sldMasterIdLst>
  <p:notesMasterIdLst>
    <p:notesMasterId r:id="rId6"/>
  </p:notesMasterIdLst>
  <p:handoutMasterIdLst>
    <p:handoutMasterId r:id="rId7"/>
  </p:handoutMasterIdLst>
  <p:sldIdLst>
    <p:sldId id="305" r:id="rId2"/>
    <p:sldId id="306" r:id="rId3"/>
    <p:sldId id="307" r:id="rId4"/>
    <p:sldId id="308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FFFF"/>
    <a:srgbClr val="3399FF"/>
    <a:srgbClr val="5735D5"/>
    <a:srgbClr val="B4EC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0718C3-4A20-5D36-CD65-9665A539B517}" v="18" dt="2024-07-24T07:01:41.5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CDB74D4-5E76-4C47-E7AA-61E2C648C8D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962EDA-0A3B-5C3A-C8DF-7672C339CF9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75D750-AD1D-4C03-A026-1768137CC901}" type="datetimeFigureOut">
              <a:rPr lang="en-IN" smtClean="0"/>
              <a:pPr/>
              <a:t>19-01-2026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C80489-5F61-FA08-A147-AE43BE9C499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2D387C-1469-6716-E148-98BDCB6976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4566E6-FD90-4AE7-9488-620D46A968B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4391555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26BB4A-8EA9-40D4-95BF-21E04B247614}" type="datetimeFigureOut">
              <a:rPr lang="en-IN" smtClean="0"/>
              <a:pPr/>
              <a:t>19-01-2026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3BDDA1-7BB7-447A-97DE-AE5425C8F2A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000788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BABCCC1-BF11-4F37-963E-1BCD5B23FD72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3982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7521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0948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2286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8372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7466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4587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2037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&lt;COURSE TITLE&gt;, &lt;TOPIC NAME&gt;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0776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1267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36402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53696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0B0F0"/>
            </a:gs>
            <a:gs pos="0">
              <a:srgbClr val="00B0F0"/>
            </a:gs>
            <a:gs pos="100000">
              <a:srgbClr val="00B0F0"/>
            </a:gs>
            <a:gs pos="89000">
              <a:schemeClr val="bg1">
                <a:shade val="80000"/>
              </a:schemeClr>
            </a:gs>
          </a:gsLst>
          <a:path path="circle">
            <a:fillToRect l="43000" r="43000" b="10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9" y="379083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&lt;COURSE TITLE&gt;, &lt;TOPIC NAME&gt;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90490" y="6291139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ctr">
              <a:defRPr sz="2200">
                <a:solidFill>
                  <a:schemeClr val="accent1"/>
                </a:solidFill>
              </a:defRPr>
            </a:lvl1pPr>
          </a:lstStyle>
          <a:p>
            <a:fld id="{CBABCCC1-BF11-4F37-963E-1BCD5B23FD72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D33DD7EC-6054-A5D7-0F93-3916702EC90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90022" y="-318716"/>
            <a:ext cx="3273164" cy="142706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B6D7A70-9470-38A5-6785-933F5C089234}"/>
              </a:ext>
            </a:extLst>
          </p:cNvPr>
          <p:cNvPicPr>
            <a:picLocks noChangeAspect="1"/>
          </p:cNvPicPr>
          <p:nvPr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0" t="18054" b="50110"/>
          <a:stretch/>
        </p:blipFill>
        <p:spPr>
          <a:xfrm>
            <a:off x="1451579" y="6373097"/>
            <a:ext cx="2912198" cy="351077"/>
          </a:xfrm>
          <a:prstGeom prst="rect">
            <a:avLst/>
          </a:prstGeom>
        </p:spPr>
      </p:pic>
      <p:pic>
        <p:nvPicPr>
          <p:cNvPr id="14" name="Picture 13" descr="Text&#10;&#10;Description automatically generated with medium confidence">
            <a:extLst>
              <a:ext uri="{FF2B5EF4-FFF2-40B4-BE49-F238E27FC236}">
                <a16:creationId xmlns:a16="http://schemas.microsoft.com/office/drawing/2014/main" id="{A51BE3ED-273E-B0A1-FC3A-EE01E1A92D27}"/>
              </a:ext>
            </a:extLst>
          </p:cNvPr>
          <p:cNvPicPr>
            <a:picLocks noChangeAspect="1"/>
          </p:cNvPicPr>
          <p:nvPr/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957" r="20929" b="13232"/>
          <a:stretch/>
        </p:blipFill>
        <p:spPr>
          <a:xfrm>
            <a:off x="8825503" y="6373097"/>
            <a:ext cx="2229351" cy="33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380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72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8378079-0637-3819-34FC-3117CA570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1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A9909F-E0DD-913D-06A3-025E02786DE2}"/>
              </a:ext>
            </a:extLst>
          </p:cNvPr>
          <p:cNvSpPr txBox="1"/>
          <p:nvPr/>
        </p:nvSpPr>
        <p:spPr>
          <a:xfrm>
            <a:off x="145916" y="2500567"/>
            <a:ext cx="120460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Color representations (hex, </a:t>
            </a:r>
            <a:r>
              <a:rPr lang="en-US" sz="3600" b="1" dirty="0" err="1">
                <a:solidFill>
                  <a:srgbClr val="FF0000"/>
                </a:solidFill>
              </a:rPr>
              <a:t>rgb</a:t>
            </a:r>
            <a:r>
              <a:rPr lang="en-US" sz="3600" b="1" dirty="0">
                <a:solidFill>
                  <a:srgbClr val="FF0000"/>
                </a:solidFill>
              </a:rPr>
              <a:t>, </a:t>
            </a:r>
            <a:r>
              <a:rPr lang="en-US" sz="3600" b="1" dirty="0" err="1">
                <a:solidFill>
                  <a:srgbClr val="FF0000"/>
                </a:solidFill>
              </a:rPr>
              <a:t>hsl</a:t>
            </a:r>
            <a:r>
              <a:rPr lang="en-US" sz="3600" b="1">
                <a:solidFill>
                  <a:srgbClr val="FF0000"/>
                </a:solidFill>
              </a:rPr>
              <a:t>, color </a:t>
            </a:r>
            <a:r>
              <a:rPr lang="en-US" sz="3600" b="1" dirty="0">
                <a:solidFill>
                  <a:srgbClr val="FF0000"/>
                </a:solidFill>
              </a:rPr>
              <a:t>names)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DD9C689-0CA6-57D8-34E1-126296DB26DA}"/>
              </a:ext>
            </a:extLst>
          </p:cNvPr>
          <p:cNvSpPr/>
          <p:nvPr/>
        </p:nvSpPr>
        <p:spPr>
          <a:xfrm>
            <a:off x="1118681" y="0"/>
            <a:ext cx="1361872" cy="564204"/>
          </a:xfrm>
          <a:prstGeom prst="rect">
            <a:avLst/>
          </a:prstGeom>
          <a:solidFill>
            <a:srgbClr val="00B050"/>
          </a:solidFill>
          <a:ln>
            <a:solidFill>
              <a:srgbClr val="FFFF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bg1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FWD</a:t>
            </a:r>
          </a:p>
        </p:txBody>
      </p:sp>
    </p:spTree>
    <p:extLst>
      <p:ext uri="{BB962C8B-B14F-4D97-AF65-F5344CB8AC3E}">
        <p14:creationId xmlns:p14="http://schemas.microsoft.com/office/powerpoint/2010/main" val="34573179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1FF7E94-E649-E712-301E-6ACF7F382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2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EDE2EF-2C42-BF20-C544-E04459D16B6F}"/>
              </a:ext>
            </a:extLst>
          </p:cNvPr>
          <p:cNvSpPr txBox="1"/>
          <p:nvPr/>
        </p:nvSpPr>
        <p:spPr>
          <a:xfrm>
            <a:off x="300127" y="995650"/>
            <a:ext cx="11625984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3200" b="1" dirty="0">
                <a:solidFill>
                  <a:srgbClr val="FF0000"/>
                </a:solidFill>
              </a:rPr>
              <a:t>Color Representation in CSS</a:t>
            </a:r>
          </a:p>
          <a:p>
            <a:pPr algn="just">
              <a:buNone/>
            </a:pPr>
            <a:r>
              <a:rPr lang="en-US" sz="3200" dirty="0"/>
              <a:t>CSS provides different methods to represent </a:t>
            </a:r>
            <a:r>
              <a:rPr lang="en-US" sz="3200" b="1" dirty="0"/>
              <a:t>colors</a:t>
            </a:r>
            <a:r>
              <a:rPr lang="en-US" sz="3200" dirty="0"/>
              <a:t> in web design.</a:t>
            </a:r>
          </a:p>
          <a:p>
            <a:pPr algn="just">
              <a:buNone/>
            </a:pPr>
            <a:r>
              <a:rPr lang="en-US" sz="3200" b="1" dirty="0">
                <a:solidFill>
                  <a:srgbClr val="FF0000"/>
                </a:solidFill>
              </a:rPr>
              <a:t>Common Color Formats:</a:t>
            </a:r>
            <a:endParaRPr lang="en-US" sz="3200" dirty="0">
              <a:solidFill>
                <a:srgbClr val="FF0000"/>
              </a:solidFill>
            </a:endParaRPr>
          </a:p>
          <a:p>
            <a:pPr algn="just"/>
            <a:r>
              <a:rPr lang="en-US" sz="3200" dirty="0"/>
              <a:t>1. Hexadecimal (HEX)</a:t>
            </a:r>
          </a:p>
          <a:p>
            <a:pPr algn="just"/>
            <a:r>
              <a:rPr lang="en-US" sz="3200" dirty="0"/>
              <a:t>2. RGB (Red, Green, Blue)</a:t>
            </a:r>
          </a:p>
          <a:p>
            <a:pPr algn="just"/>
            <a:r>
              <a:rPr lang="en-US" sz="3200" dirty="0"/>
              <a:t>3. HSL (Hue, Saturation, Lightness)</a:t>
            </a:r>
          </a:p>
          <a:p>
            <a:pPr algn="just"/>
            <a:r>
              <a:rPr lang="en-US" sz="3200" dirty="0"/>
              <a:t>4. Color Names</a:t>
            </a:r>
          </a:p>
          <a:p>
            <a:pPr algn="just">
              <a:buNone/>
            </a:pPr>
            <a:r>
              <a:rPr lang="en-US" sz="3200" dirty="0"/>
              <a:t>These formats help define </a:t>
            </a:r>
            <a:r>
              <a:rPr lang="en-US" sz="3200" b="1" dirty="0"/>
              <a:t>precise and consistent colors</a:t>
            </a:r>
            <a:r>
              <a:rPr lang="en-US" sz="3200" dirty="0"/>
              <a:t>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6F13B2-C91D-1F55-67FC-F47EA7504037}"/>
              </a:ext>
            </a:extLst>
          </p:cNvPr>
          <p:cNvSpPr/>
          <p:nvPr/>
        </p:nvSpPr>
        <p:spPr>
          <a:xfrm>
            <a:off x="1118681" y="0"/>
            <a:ext cx="1361872" cy="564204"/>
          </a:xfrm>
          <a:prstGeom prst="rect">
            <a:avLst/>
          </a:prstGeom>
          <a:solidFill>
            <a:srgbClr val="00B050"/>
          </a:solidFill>
          <a:ln>
            <a:solidFill>
              <a:srgbClr val="FFFF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bg1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FWD</a:t>
            </a:r>
          </a:p>
        </p:txBody>
      </p:sp>
    </p:spTree>
    <p:extLst>
      <p:ext uri="{BB962C8B-B14F-4D97-AF65-F5344CB8AC3E}">
        <p14:creationId xmlns:p14="http://schemas.microsoft.com/office/powerpoint/2010/main" val="15414717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CAB85E-4F7D-0594-CAFA-A979B8092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3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C06132-2F3C-FA98-949F-5262AC6E6FBC}"/>
              </a:ext>
            </a:extLst>
          </p:cNvPr>
          <p:cNvSpPr txBox="1"/>
          <p:nvPr/>
        </p:nvSpPr>
        <p:spPr>
          <a:xfrm>
            <a:off x="162939" y="691781"/>
            <a:ext cx="1175344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3200" b="1" dirty="0">
                <a:solidFill>
                  <a:srgbClr val="FF0000"/>
                </a:solidFill>
              </a:rPr>
              <a:t>1. Hexadecimal Color Representation</a:t>
            </a:r>
          </a:p>
          <a:p>
            <a:pPr algn="just">
              <a:buNone/>
            </a:pPr>
            <a:r>
              <a:rPr lang="en-US" sz="3200" dirty="0"/>
              <a:t>Hexadecimal colors use a </a:t>
            </a:r>
            <a:r>
              <a:rPr lang="en-US" sz="3200" b="1" dirty="0"/>
              <a:t>six-digit code</a:t>
            </a:r>
            <a:r>
              <a:rPr lang="en-US" sz="3200" dirty="0"/>
              <a:t> preceded by </a:t>
            </a:r>
            <a:r>
              <a:rPr lang="en-US" sz="3200" dirty="0">
                <a:latin typeface="Courier New" panose="02070309020205020404" pitchFamily="49" charset="0"/>
              </a:rPr>
              <a:t>#</a:t>
            </a:r>
            <a:r>
              <a:rPr lang="en-US" sz="3200" dirty="0"/>
              <a:t>.</a:t>
            </a:r>
          </a:p>
          <a:p>
            <a:pPr algn="just">
              <a:buNone/>
            </a:pPr>
            <a:r>
              <a:rPr lang="en-US" sz="3200" b="1" dirty="0">
                <a:solidFill>
                  <a:srgbClr val="FF0000"/>
                </a:solidFill>
              </a:rPr>
              <a:t>Syntax:</a:t>
            </a:r>
            <a:endParaRPr lang="en-US" sz="3200" dirty="0">
              <a:solidFill>
                <a:srgbClr val="FF0000"/>
              </a:solidFill>
            </a:endParaRPr>
          </a:p>
          <a:p>
            <a:pPr algn="just" rtl="0">
              <a:buNone/>
            </a:pPr>
            <a:r>
              <a:rPr lang="en-US" sz="3200" dirty="0">
                <a:latin typeface="Courier New" panose="02070309020205020404" pitchFamily="49" charset="0"/>
              </a:rPr>
              <a:t>color: #RRGGBB;</a:t>
            </a:r>
          </a:p>
          <a:p>
            <a:pPr algn="just">
              <a:buNone/>
            </a:pPr>
            <a:r>
              <a:rPr lang="en-US" sz="3200" b="1" dirty="0">
                <a:solidFill>
                  <a:srgbClr val="FF0000"/>
                </a:solidFill>
              </a:rPr>
              <a:t>Examples:</a:t>
            </a:r>
            <a:endParaRPr lang="en-US" sz="3200" dirty="0">
              <a:solidFill>
                <a:srgbClr val="FF0000"/>
              </a:solidFill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Courier New" panose="02070309020205020404" pitchFamily="49" charset="0"/>
              </a:rPr>
              <a:t>#FF0000</a:t>
            </a:r>
            <a:r>
              <a:rPr lang="en-US" sz="3200" dirty="0"/>
              <a:t> – Red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Courier New" panose="02070309020205020404" pitchFamily="49" charset="0"/>
              </a:rPr>
              <a:t>#00FF00</a:t>
            </a:r>
            <a:r>
              <a:rPr lang="en-US" sz="3200" dirty="0"/>
              <a:t> – Green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Courier New" panose="02070309020205020404" pitchFamily="49" charset="0"/>
              </a:rPr>
              <a:t>#0000FF</a:t>
            </a:r>
            <a:r>
              <a:rPr lang="en-US" sz="3200" dirty="0"/>
              <a:t> – Blue</a:t>
            </a:r>
          </a:p>
          <a:p>
            <a:pPr algn="just">
              <a:buNone/>
            </a:pPr>
            <a:r>
              <a:rPr lang="en-US" sz="3200" dirty="0"/>
              <a:t>Each pair represents </a:t>
            </a:r>
            <a:r>
              <a:rPr lang="en-US" sz="3200" b="1" dirty="0"/>
              <a:t>intensity (00–FF)</a:t>
            </a:r>
            <a:r>
              <a:rPr lang="en-US" sz="3200" dirty="0"/>
              <a:t> of red, green, and blue.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746667-E624-5B7F-E56F-7CFB863E30D9}"/>
              </a:ext>
            </a:extLst>
          </p:cNvPr>
          <p:cNvSpPr/>
          <p:nvPr/>
        </p:nvSpPr>
        <p:spPr>
          <a:xfrm>
            <a:off x="1118681" y="0"/>
            <a:ext cx="1361872" cy="564204"/>
          </a:xfrm>
          <a:prstGeom prst="rect">
            <a:avLst/>
          </a:prstGeom>
          <a:solidFill>
            <a:srgbClr val="00B050"/>
          </a:solidFill>
          <a:ln>
            <a:solidFill>
              <a:srgbClr val="FFFF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bg1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FWD</a:t>
            </a:r>
          </a:p>
        </p:txBody>
      </p:sp>
    </p:spTree>
    <p:extLst>
      <p:ext uri="{BB962C8B-B14F-4D97-AF65-F5344CB8AC3E}">
        <p14:creationId xmlns:p14="http://schemas.microsoft.com/office/powerpoint/2010/main" val="6992328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BD6E37-16BA-4EC2-5D6D-EB6329FB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4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5CC77D-5881-BDC1-75A7-03E5BBB78576}"/>
              </a:ext>
            </a:extLst>
          </p:cNvPr>
          <p:cNvSpPr txBox="1"/>
          <p:nvPr/>
        </p:nvSpPr>
        <p:spPr>
          <a:xfrm>
            <a:off x="513134" y="981298"/>
            <a:ext cx="11678865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2800" b="1" dirty="0">
                <a:solidFill>
                  <a:srgbClr val="FF0000"/>
                </a:solidFill>
              </a:rPr>
              <a:t>2. RGB (Red, Green, Blue)</a:t>
            </a:r>
          </a:p>
          <a:p>
            <a:pPr algn="just" rtl="0">
              <a:buNone/>
            </a:pPr>
            <a:r>
              <a:rPr lang="en-US" sz="2800" dirty="0">
                <a:latin typeface="Courier New" panose="02070309020205020404" pitchFamily="49" charset="0"/>
              </a:rPr>
              <a:t>color: </a:t>
            </a:r>
            <a:r>
              <a:rPr lang="en-US" sz="2800" dirty="0" err="1">
                <a:latin typeface="Courier New" panose="02070309020205020404" pitchFamily="49" charset="0"/>
              </a:rPr>
              <a:t>rgb</a:t>
            </a:r>
            <a:r>
              <a:rPr lang="en-US" sz="2800" dirty="0">
                <a:latin typeface="Courier New" panose="02070309020205020404" pitchFamily="49" charset="0"/>
              </a:rPr>
              <a:t>(255, 0, 0);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/>
              <a:t>Values range from </a:t>
            </a:r>
            <a:r>
              <a:rPr lang="en-US" sz="2800" b="1" dirty="0"/>
              <a:t>0 to 255</a:t>
            </a:r>
            <a:endParaRPr lang="en-US" sz="2800" dirty="0"/>
          </a:p>
          <a:p>
            <a:pPr algn="just">
              <a:buNone/>
            </a:pPr>
            <a:r>
              <a:rPr lang="en-US" sz="2800" b="1" dirty="0">
                <a:solidFill>
                  <a:srgbClr val="FF0000"/>
                </a:solidFill>
              </a:rPr>
              <a:t>3.HSL (Hue, Saturation, Lightness)</a:t>
            </a:r>
          </a:p>
          <a:p>
            <a:pPr algn="just" rtl="0">
              <a:buNone/>
            </a:pPr>
            <a:r>
              <a:rPr lang="en-US" sz="2800" dirty="0">
                <a:latin typeface="Courier New" panose="02070309020205020404" pitchFamily="49" charset="0"/>
              </a:rPr>
              <a:t>color: </a:t>
            </a:r>
            <a:r>
              <a:rPr lang="en-US" sz="2800" dirty="0" err="1">
                <a:latin typeface="Courier New" panose="02070309020205020404" pitchFamily="49" charset="0"/>
              </a:rPr>
              <a:t>hsl</a:t>
            </a:r>
            <a:r>
              <a:rPr lang="en-US" sz="2800" dirty="0">
                <a:latin typeface="Courier New" panose="02070309020205020404" pitchFamily="49" charset="0"/>
              </a:rPr>
              <a:t>(0, 100%, 50%);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/>
              <a:t>Hue: color type (0–360°)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/>
              <a:t>Saturation: color intensity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/>
              <a:t>Lightness: brightness</a:t>
            </a:r>
          </a:p>
          <a:p>
            <a:pPr algn="just"/>
            <a:r>
              <a:rPr lang="en-US" sz="2800" b="1" dirty="0">
                <a:solidFill>
                  <a:srgbClr val="FF0000"/>
                </a:solidFill>
              </a:rPr>
              <a:t>4.Color names direct</a:t>
            </a:r>
          </a:p>
          <a:p>
            <a:pPr algn="just"/>
            <a:r>
              <a:rPr lang="en-US" sz="2800" b="1" dirty="0" err="1"/>
              <a:t>Color:green</a:t>
            </a:r>
            <a:endParaRPr lang="en-US" sz="2800" b="1" dirty="0"/>
          </a:p>
          <a:p>
            <a:pPr algn="just"/>
            <a:endParaRPr lang="en-US" sz="2800" b="1" dirty="0">
              <a:solidFill>
                <a:srgbClr val="FF0000"/>
              </a:solidFill>
            </a:endParaRPr>
          </a:p>
          <a:p>
            <a:pPr algn="just">
              <a:buNone/>
            </a:pPr>
            <a:endParaRPr lang="en-US" sz="28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BEF6D3-68AF-50DE-8404-503A956A1FFF}"/>
              </a:ext>
            </a:extLst>
          </p:cNvPr>
          <p:cNvSpPr/>
          <p:nvPr/>
        </p:nvSpPr>
        <p:spPr>
          <a:xfrm>
            <a:off x="1118681" y="0"/>
            <a:ext cx="1361872" cy="564204"/>
          </a:xfrm>
          <a:prstGeom prst="rect">
            <a:avLst/>
          </a:prstGeom>
          <a:solidFill>
            <a:srgbClr val="00B050"/>
          </a:solidFill>
          <a:ln>
            <a:solidFill>
              <a:srgbClr val="FFFF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bg1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FWD</a:t>
            </a:r>
          </a:p>
        </p:txBody>
      </p:sp>
    </p:spTree>
    <p:extLst>
      <p:ext uri="{BB962C8B-B14F-4D97-AF65-F5344CB8AC3E}">
        <p14:creationId xmlns:p14="http://schemas.microsoft.com/office/powerpoint/2010/main" val="2888492518"/>
      </p:ext>
    </p:extLst>
  </p:cSld>
  <p:clrMapOvr>
    <a:masterClrMapping/>
  </p:clrMapOvr>
</p:sld>
</file>

<file path=ppt/theme/theme1.xml><?xml version="1.0" encoding="utf-8"?>
<a:theme xmlns:a="http://schemas.openxmlformats.org/drawingml/2006/main" name="CO1_Session_1  V2.0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24598BE9-BD78-4C1A-902E-0BA786164A9D}" vid="{1551CBD6-114D-4A17-981D-82FBB9D5494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CO1_Session_1  V2.0</Template>
  <TotalTime>5644</TotalTime>
  <Words>198</Words>
  <Application>Microsoft Office PowerPoint</Application>
  <PresentationFormat>Widescreen</PresentationFormat>
  <Paragraphs>36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Courier New</vt:lpstr>
      <vt:lpstr>Gill Sans MT</vt:lpstr>
      <vt:lpstr>CO1_Session_1  V2.0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Department of DTI</dc:title>
  <dc:creator>PKS</dc:creator>
  <cp:lastModifiedBy>B Srinivas</cp:lastModifiedBy>
  <cp:revision>134</cp:revision>
  <dcterms:created xsi:type="dcterms:W3CDTF">2023-06-13T04:08:14Z</dcterms:created>
  <dcterms:modified xsi:type="dcterms:W3CDTF">2026-01-19T16:47:29Z</dcterms:modified>
</cp:coreProperties>
</file>